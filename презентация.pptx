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6" r:id="rId1"/>
    <p:sldMasterId id="2147483733" r:id="rId2"/>
  </p:sldMasterIdLst>
  <p:notesMasterIdLst>
    <p:notesMasterId r:id="rId13"/>
  </p:notesMasterIdLst>
  <p:sldIdLst>
    <p:sldId id="704" r:id="rId3"/>
    <p:sldId id="696" r:id="rId4"/>
    <p:sldId id="711" r:id="rId5"/>
    <p:sldId id="712" r:id="rId6"/>
    <p:sldId id="713" r:id="rId7"/>
    <p:sldId id="714" r:id="rId8"/>
    <p:sldId id="716" r:id="rId9"/>
    <p:sldId id="717" r:id="rId10"/>
    <p:sldId id="718" r:id="rId11"/>
    <p:sldId id="710" r:id="rId12"/>
  </p:sldIdLst>
  <p:sldSz cx="20104100" cy="11309350"/>
  <p:notesSz cx="20104100" cy="11309350"/>
  <p:defaultTextStyle>
    <a:defPPr>
      <a:defRPr lang="ru-RU"/>
    </a:defPPr>
    <a:lvl1pPr marL="0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641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284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9927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6572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3212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9853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6496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3137" algn="l" defTabSz="9132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2" userDrawn="1">
          <p15:clr>
            <a:srgbClr val="A4A3A4"/>
          </p15:clr>
        </p15:guide>
        <p15:guide id="2" pos="90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ртём борисов" initials="Аб" lastIdx="4" clrIdx="0">
    <p:extLst>
      <p:ext uri="{19B8F6BF-5375-455C-9EA6-DF929625EA0E}">
        <p15:presenceInfo xmlns:p15="http://schemas.microsoft.com/office/powerpoint/2012/main" userId="a1cb6fa7c11e863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B69C"/>
    <a:srgbClr val="0F316C"/>
    <a:srgbClr val="C6D9E7"/>
    <a:srgbClr val="0071CE"/>
    <a:srgbClr val="FFFFFF"/>
    <a:srgbClr val="EDF1F5"/>
    <a:srgbClr val="15B012"/>
    <a:srgbClr val="C5D9E7"/>
    <a:srgbClr val="91A3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3741" autoAdjust="0"/>
  </p:normalViewPr>
  <p:slideViewPr>
    <p:cSldViewPr>
      <p:cViewPr varScale="1">
        <p:scale>
          <a:sx n="50" d="100"/>
          <a:sy n="50" d="100"/>
        </p:scale>
        <p:origin x="519" y="45"/>
      </p:cViewPr>
      <p:guideLst>
        <p:guide orient="horz" pos="1642"/>
        <p:guide pos="90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-25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15504EF5-1B61-4C08-BFDD-5C0D5AF73FD4}" type="datetimeFigureOut">
              <a:rPr lang="ru-RU" smtClean="0"/>
              <a:pPr/>
              <a:t>30.04.2026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661150" y="1414463"/>
            <a:ext cx="6781800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BM Plex Sans" panose="020B0503050203000203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BM Plex Sans" panose="020B0503050203000203" pitchFamily="34" charset="0"/>
              </a:defRPr>
            </a:lvl1pPr>
          </a:lstStyle>
          <a:p>
            <a:fld id="{65D8CCBB-81F9-477D-A072-57A81C27A3A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710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1pPr>
    <a:lvl2pPr marL="456641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2pPr>
    <a:lvl3pPr marL="913284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3pPr>
    <a:lvl4pPr marL="1369927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4pPr>
    <a:lvl5pPr marL="1826572" algn="l" defTabSz="913284" rtl="0" eaLnBrk="1" latinLnBrk="0" hangingPunct="1">
      <a:defRPr sz="1200" kern="1200">
        <a:solidFill>
          <a:schemeClr val="tx1"/>
        </a:solidFill>
        <a:latin typeface="IBM Plex Sans" panose="020B0503050203000203" pitchFamily="34" charset="0"/>
        <a:ea typeface="+mn-ea"/>
        <a:cs typeface="+mn-cs"/>
      </a:defRPr>
    </a:lvl5pPr>
    <a:lvl6pPr marL="2283212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9853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6496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3137" algn="l" defTabSz="9132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9505" y="4146763"/>
            <a:ext cx="14701121" cy="3731493"/>
          </a:xfrm>
        </p:spPr>
        <p:txBody>
          <a:bodyPr anchor="b">
            <a:normAutofit/>
          </a:bodyPr>
          <a:lstStyle>
            <a:lvl1pPr>
              <a:defRPr sz="890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9505" y="7878253"/>
            <a:ext cx="14701121" cy="185732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07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61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15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6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523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77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031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7130284"/>
            <a:ext cx="2876858" cy="1283951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7469548"/>
            <a:ext cx="1285803" cy="602118"/>
          </a:xfrm>
        </p:spPr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25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626" y="1029204"/>
            <a:ext cx="14695001" cy="211228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9503" y="3518464"/>
            <a:ext cx="14701123" cy="6229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93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3395031"/>
            <a:ext cx="14701121" cy="2422160"/>
          </a:xfrm>
        </p:spPr>
        <p:txBody>
          <a:bodyPr anchor="b"/>
          <a:lstStyle>
            <a:lvl1pPr algn="l">
              <a:defRPr sz="6596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4" y="5821444"/>
            <a:ext cx="14701121" cy="1418863"/>
          </a:xfrm>
        </p:spPr>
        <p:txBody>
          <a:bodyPr anchor="t"/>
          <a:lstStyle>
            <a:lvl1pPr marL="0" indent="0" algn="l">
              <a:buNone/>
              <a:defRPr sz="329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5241047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5349826"/>
            <a:ext cx="1285803" cy="602118"/>
          </a:xfrm>
        </p:spPr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42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9503" y="3518464"/>
            <a:ext cx="7113382" cy="622957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57242" y="3506297"/>
            <a:ext cx="7113382" cy="622957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1299112"/>
            <a:ext cx="1285803" cy="602118"/>
          </a:xfrm>
        </p:spPr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24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6903" y="3253133"/>
            <a:ext cx="6583849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9503" y="4203434"/>
            <a:ext cx="7161250" cy="553109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78119" y="3247810"/>
            <a:ext cx="6594186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18013" y="4198111"/>
            <a:ext cx="7154293" cy="553109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1299112"/>
            <a:ext cx="1285803" cy="602118"/>
          </a:xfrm>
        </p:spPr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58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6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73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735632"/>
            <a:ext cx="5779927" cy="1610011"/>
          </a:xfrm>
        </p:spPr>
        <p:txBody>
          <a:bodyPr anchor="b"/>
          <a:lstStyle>
            <a:lvl1pPr algn="l">
              <a:defRPr sz="3298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6383" y="735633"/>
            <a:ext cx="8544243" cy="892967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2636231"/>
            <a:ext cx="5779927" cy="7029073"/>
          </a:xfrm>
        </p:spPr>
        <p:txBody>
          <a:bodyPr/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033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7916545"/>
            <a:ext cx="14701123" cy="934593"/>
          </a:xfrm>
        </p:spPr>
        <p:txBody>
          <a:bodyPr anchor="b">
            <a:normAutofit/>
          </a:bodyPr>
          <a:lstStyle>
            <a:lvl1pPr algn="l">
              <a:defRPr sz="3958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69503" y="1047104"/>
            <a:ext cx="14701123" cy="6357131"/>
          </a:xfrm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851138"/>
            <a:ext cx="14701123" cy="814168"/>
          </a:xfrm>
        </p:spPr>
        <p:txBody>
          <a:bodyPr>
            <a:normAutofit/>
          </a:bodyPr>
          <a:lstStyle>
            <a:lvl1pPr marL="0" indent="0">
              <a:buNone/>
              <a:defRPr sz="197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2088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1005275"/>
            <a:ext cx="14701121" cy="5140230"/>
          </a:xfrm>
        </p:spPr>
        <p:txBody>
          <a:bodyPr anchor="ctr">
            <a:normAutofit/>
          </a:bodyPr>
          <a:lstStyle>
            <a:lvl1pPr algn="l">
              <a:defRPr sz="7915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4" y="7180144"/>
            <a:ext cx="14701121" cy="2565735"/>
          </a:xfrm>
        </p:spPr>
        <p:txBody>
          <a:bodyPr anchor="ctr">
            <a:normAutofit/>
          </a:bodyPr>
          <a:lstStyle>
            <a:lvl1pPr marL="0" indent="0" algn="l">
              <a:buNone/>
              <a:defRPr sz="296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5241047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5349826"/>
            <a:ext cx="1285803" cy="602118"/>
          </a:xfrm>
        </p:spPr>
        <p:txBody>
          <a:bodyPr/>
          <a:lstStyle/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1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447" y="1005276"/>
            <a:ext cx="13841234" cy="4775059"/>
          </a:xfrm>
        </p:spPr>
        <p:txBody>
          <a:bodyPr anchor="ctr">
            <a:normAutofit/>
          </a:bodyPr>
          <a:lstStyle>
            <a:lvl1pPr algn="l">
              <a:defRPr sz="7915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00358" y="5780335"/>
            <a:ext cx="12427464" cy="62829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63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4" y="7180144"/>
            <a:ext cx="14701121" cy="2565735"/>
          </a:xfrm>
        </p:spPr>
        <p:txBody>
          <a:bodyPr anchor="ctr">
            <a:normAutofit/>
          </a:bodyPr>
          <a:lstStyle>
            <a:lvl1pPr marL="0" indent="0" algn="l">
              <a:buNone/>
              <a:defRPr sz="296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907" y="5241047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5349826"/>
            <a:ext cx="1285803" cy="602118"/>
          </a:xfrm>
        </p:spPr>
        <p:txBody>
          <a:bodyPr/>
          <a:lstStyle/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69055" y="1068608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27928" y="4791065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1677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4021103"/>
            <a:ext cx="14701123" cy="4493471"/>
          </a:xfrm>
        </p:spPr>
        <p:txBody>
          <a:bodyPr anchor="b">
            <a:normAutofit/>
          </a:bodyPr>
          <a:lstStyle>
            <a:lvl1pPr algn="l">
              <a:defRPr sz="791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544842"/>
            <a:ext cx="14701123" cy="1203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155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699447" y="1005276"/>
            <a:ext cx="13841234" cy="4775059"/>
          </a:xfrm>
        </p:spPr>
        <p:txBody>
          <a:bodyPr anchor="ctr">
            <a:normAutofit/>
          </a:bodyPr>
          <a:lstStyle>
            <a:lvl1pPr algn="l">
              <a:defRPr sz="7915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269503" y="7162588"/>
            <a:ext cx="14701123" cy="138225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958">
                <a:solidFill>
                  <a:schemeClr val="accent1"/>
                </a:solidFill>
              </a:defRPr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544842"/>
            <a:ext cx="14701123" cy="1203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55" y="1068608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27928" y="4791065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4954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1034641"/>
            <a:ext cx="14701121" cy="4749366"/>
          </a:xfrm>
        </p:spPr>
        <p:txBody>
          <a:bodyPr anchor="ctr">
            <a:normAutofit/>
          </a:bodyPr>
          <a:lstStyle>
            <a:lvl1pPr algn="l">
              <a:defRPr sz="791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269503" y="7162588"/>
            <a:ext cx="14701123" cy="138225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958">
                <a:solidFill>
                  <a:schemeClr val="accent1"/>
                </a:solidFill>
              </a:defRPr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544842"/>
            <a:ext cx="14701123" cy="1203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984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03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6759" y="1034638"/>
            <a:ext cx="3640242" cy="8713406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69503" y="1034638"/>
            <a:ext cx="10680303" cy="87134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9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9505" y="4146763"/>
            <a:ext cx="14701121" cy="3731493"/>
          </a:xfrm>
        </p:spPr>
        <p:txBody>
          <a:bodyPr anchor="b">
            <a:normAutofit/>
          </a:bodyPr>
          <a:lstStyle>
            <a:lvl1pPr>
              <a:defRPr sz="890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9505" y="7878253"/>
            <a:ext cx="14701121" cy="185732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07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61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15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6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523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77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031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7130284"/>
            <a:ext cx="2876858" cy="1283951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7469548"/>
            <a:ext cx="1285803" cy="602118"/>
          </a:xfrm>
        </p:spPr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953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5626" y="1029204"/>
            <a:ext cx="14695001" cy="211228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9503" y="3518464"/>
            <a:ext cx="14701123" cy="6229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401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3395031"/>
            <a:ext cx="14701121" cy="2422160"/>
          </a:xfrm>
        </p:spPr>
        <p:txBody>
          <a:bodyPr anchor="b"/>
          <a:lstStyle>
            <a:lvl1pPr algn="l">
              <a:defRPr sz="6596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4" y="5821444"/>
            <a:ext cx="14701121" cy="1418863"/>
          </a:xfrm>
        </p:spPr>
        <p:txBody>
          <a:bodyPr anchor="t"/>
          <a:lstStyle>
            <a:lvl1pPr marL="0" indent="0" algn="l">
              <a:buNone/>
              <a:defRPr sz="329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5241047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5349826"/>
            <a:ext cx="1285803" cy="602118"/>
          </a:xfrm>
        </p:spPr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102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9503" y="3518464"/>
            <a:ext cx="7113382" cy="622957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57242" y="3506297"/>
            <a:ext cx="7113382" cy="622957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1299112"/>
            <a:ext cx="1285803" cy="602118"/>
          </a:xfrm>
        </p:spPr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55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6903" y="3253133"/>
            <a:ext cx="6583849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9503" y="4203434"/>
            <a:ext cx="7161250" cy="553109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78119" y="3247810"/>
            <a:ext cx="6594186" cy="950299"/>
          </a:xfrm>
        </p:spPr>
        <p:txBody>
          <a:bodyPr anchor="b">
            <a:noAutofit/>
          </a:bodyPr>
          <a:lstStyle>
            <a:lvl1pPr marL="0" indent="0">
              <a:buNone/>
              <a:defRPr sz="3958" b="0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818013" y="4198111"/>
            <a:ext cx="7154293" cy="553109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1299112"/>
            <a:ext cx="1285803" cy="602118"/>
          </a:xfrm>
        </p:spPr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79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8391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3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735632"/>
            <a:ext cx="5779927" cy="1610011"/>
          </a:xfrm>
        </p:spPr>
        <p:txBody>
          <a:bodyPr anchor="b"/>
          <a:lstStyle>
            <a:lvl1pPr algn="l">
              <a:defRPr sz="3298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6383" y="735633"/>
            <a:ext cx="8544243" cy="892967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2636231"/>
            <a:ext cx="5779927" cy="7029073"/>
          </a:xfrm>
        </p:spPr>
        <p:txBody>
          <a:bodyPr/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927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7916545"/>
            <a:ext cx="14701123" cy="934593"/>
          </a:xfrm>
        </p:spPr>
        <p:txBody>
          <a:bodyPr anchor="b">
            <a:normAutofit/>
          </a:bodyPr>
          <a:lstStyle>
            <a:lvl1pPr algn="l">
              <a:defRPr sz="3958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69503" y="1047104"/>
            <a:ext cx="14701123" cy="6357131"/>
          </a:xfrm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851138"/>
            <a:ext cx="14701123" cy="814168"/>
          </a:xfrm>
        </p:spPr>
        <p:txBody>
          <a:bodyPr>
            <a:normAutofit/>
          </a:bodyPr>
          <a:lstStyle>
            <a:lvl1pPr marL="0" indent="0">
              <a:buNone/>
              <a:defRPr sz="197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37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1005275"/>
            <a:ext cx="14701121" cy="5140230"/>
          </a:xfrm>
        </p:spPr>
        <p:txBody>
          <a:bodyPr anchor="ctr">
            <a:normAutofit/>
          </a:bodyPr>
          <a:lstStyle>
            <a:lvl1pPr algn="l">
              <a:defRPr sz="7915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4" y="7180144"/>
            <a:ext cx="14701121" cy="2565735"/>
          </a:xfrm>
        </p:spPr>
        <p:txBody>
          <a:bodyPr anchor="ctr">
            <a:normAutofit/>
          </a:bodyPr>
          <a:lstStyle>
            <a:lvl1pPr marL="0" indent="0" algn="l">
              <a:buNone/>
              <a:defRPr sz="296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5241047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5349826"/>
            <a:ext cx="1285803" cy="602118"/>
          </a:xfrm>
        </p:spPr>
        <p:txBody>
          <a:bodyPr/>
          <a:lstStyle/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9468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447" y="1005276"/>
            <a:ext cx="13841234" cy="4775059"/>
          </a:xfrm>
        </p:spPr>
        <p:txBody>
          <a:bodyPr anchor="ctr">
            <a:normAutofit/>
          </a:bodyPr>
          <a:lstStyle>
            <a:lvl1pPr algn="l">
              <a:defRPr sz="7915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400358" y="5780335"/>
            <a:ext cx="12427464" cy="62829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63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4" y="7180144"/>
            <a:ext cx="14701121" cy="2565735"/>
          </a:xfrm>
        </p:spPr>
        <p:txBody>
          <a:bodyPr anchor="ctr">
            <a:normAutofit/>
          </a:bodyPr>
          <a:lstStyle>
            <a:lvl1pPr marL="0" indent="0" algn="l">
              <a:buNone/>
              <a:defRPr sz="2968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907" y="5241047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6937" y="5349826"/>
            <a:ext cx="1285803" cy="602118"/>
          </a:xfrm>
        </p:spPr>
        <p:txBody>
          <a:bodyPr/>
          <a:lstStyle/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69055" y="1068608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27928" y="4791065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50454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4021103"/>
            <a:ext cx="14701123" cy="4493471"/>
          </a:xfrm>
        </p:spPr>
        <p:txBody>
          <a:bodyPr anchor="b">
            <a:normAutofit/>
          </a:bodyPr>
          <a:lstStyle>
            <a:lvl1pPr algn="l">
              <a:defRPr sz="791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544842"/>
            <a:ext cx="14701123" cy="1203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03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699447" y="1005276"/>
            <a:ext cx="13841234" cy="4775059"/>
          </a:xfrm>
        </p:spPr>
        <p:txBody>
          <a:bodyPr anchor="ctr">
            <a:normAutofit/>
          </a:bodyPr>
          <a:lstStyle>
            <a:lvl1pPr algn="l">
              <a:defRPr sz="7915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269503" y="7162588"/>
            <a:ext cx="14701123" cy="138225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958">
                <a:solidFill>
                  <a:schemeClr val="accent1"/>
                </a:solidFill>
              </a:defRPr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544842"/>
            <a:ext cx="14701123" cy="1203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55" y="1068608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27928" y="4791065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/>
          <a:p>
            <a:pPr lvl="0"/>
            <a:r>
              <a:rPr lang="en-US" sz="1319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683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9504" y="1034641"/>
            <a:ext cx="14701121" cy="4749366"/>
          </a:xfrm>
        </p:spPr>
        <p:txBody>
          <a:bodyPr anchor="ctr">
            <a:normAutofit/>
          </a:bodyPr>
          <a:lstStyle>
            <a:lvl1pPr algn="l">
              <a:defRPr sz="7915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269503" y="7162588"/>
            <a:ext cx="14701123" cy="1382254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958">
                <a:solidFill>
                  <a:schemeClr val="accent1"/>
                </a:solidFill>
              </a:defRPr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69504" y="8544842"/>
            <a:ext cx="14701123" cy="1203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6907" y="8099799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6937" y="8217480"/>
            <a:ext cx="1285803" cy="602118"/>
          </a:xfrm>
        </p:spPr>
        <p:txBody>
          <a:bodyPr/>
          <a:lstStyle/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5603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16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26759" y="1034638"/>
            <a:ext cx="3640242" cy="8713406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69503" y="1034638"/>
            <a:ext cx="10680303" cy="87134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6907" y="1178058"/>
            <a:ext cx="2619415" cy="836570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590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" y="376978"/>
            <a:ext cx="4702031" cy="10947589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44886" y="-1295"/>
            <a:ext cx="3886057" cy="11302818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301562" cy="113093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624" y="1029204"/>
            <a:ext cx="14695001" cy="2112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3" y="3518464"/>
            <a:ext cx="14701123" cy="640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85867" y="10109545"/>
            <a:ext cx="1890173" cy="610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047"/>
            <a:fld id="{508FF5C5-FE0D-4232-9D4E-8A2066FAA725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9503" y="10118403"/>
            <a:ext cx="12565061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047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937" y="1299112"/>
            <a:ext cx="128580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98">
                <a:solidFill>
                  <a:srgbClr val="FEFFFF"/>
                </a:solidFill>
              </a:defRPr>
            </a:lvl1pPr>
          </a:lstStyle>
          <a:p>
            <a:pPr defTabSz="1794047"/>
            <a:fld id="{E81C6210-EE78-416C-B8FD-575D97BA85A9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047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260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xStyles>
    <p:titleStyle>
      <a:lvl1pPr algn="l" defTabSz="753923" rtl="0" eaLnBrk="1" latinLnBrk="0" hangingPunct="1">
        <a:spcBef>
          <a:spcPct val="0"/>
        </a:spcBef>
        <a:buNone/>
        <a:defRPr sz="5936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65442" indent="-565442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296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225125" indent="-471202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263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884807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230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638730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392653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4146575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900498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654421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6408344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" y="376978"/>
            <a:ext cx="4702031" cy="10947589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44886" y="-1295"/>
            <a:ext cx="3886057" cy="11302818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301562" cy="1130935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624" y="1029204"/>
            <a:ext cx="14695001" cy="2112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9503" y="3518464"/>
            <a:ext cx="14701123" cy="640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085867" y="10109545"/>
            <a:ext cx="1890173" cy="610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922"/>
            <a:fld id="{2CF34C0D-3E2C-4BFA-9E86-42BE061C8432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30.04.2026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9503" y="10118403"/>
            <a:ext cx="12565061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794922"/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76937" y="1299112"/>
            <a:ext cx="128580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98">
                <a:solidFill>
                  <a:srgbClr val="FEFFFF"/>
                </a:solidFill>
              </a:defRPr>
            </a:lvl1pPr>
          </a:lstStyle>
          <a:p>
            <a:pPr defTabSz="1794922"/>
            <a:fld id="{9DB11000-5AB8-4B1D-B861-D0A7E724EF0D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 defTabSz="1794922"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82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</p:sldLayoutIdLst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  <p:txStyles>
    <p:titleStyle>
      <a:lvl1pPr algn="l" defTabSz="753923" rtl="0" eaLnBrk="1" latinLnBrk="0" hangingPunct="1">
        <a:spcBef>
          <a:spcPct val="0"/>
        </a:spcBef>
        <a:buNone/>
        <a:defRPr sz="5936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65442" indent="-565442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296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225125" indent="-471202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263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884807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230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638730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392653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4146575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900498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654421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6408344" indent="-376961" algn="l" defTabSz="753923" rtl="0" eaLnBrk="1" latinLnBrk="0" hangingPunct="1">
        <a:spcBef>
          <a:spcPts val="1649"/>
        </a:spcBef>
        <a:spcAft>
          <a:spcPts val="0"/>
        </a:spcAft>
        <a:buClr>
          <a:schemeClr val="accent1"/>
        </a:buClr>
        <a:buFont typeface="Wingdings 3" charset="2"/>
        <a:buChar char=""/>
        <a:defRPr sz="197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5">
            <a:extLst>
              <a:ext uri="{FF2B5EF4-FFF2-40B4-BE49-F238E27FC236}">
                <a16:creationId xmlns:a16="http://schemas.microsoft.com/office/drawing/2014/main" id="{3C17DED2-5852-844D-89B1-AC6304B37AD7}"/>
              </a:ext>
            </a:extLst>
          </p:cNvPr>
          <p:cNvSpPr/>
          <p:nvPr/>
        </p:nvSpPr>
        <p:spPr>
          <a:xfrm>
            <a:off x="5403850" y="777875"/>
            <a:ext cx="11581151" cy="707767"/>
          </a:xfrm>
          <a:prstGeom prst="rect">
            <a:avLst/>
          </a:prstGeom>
        </p:spPr>
        <p:txBody>
          <a:bodyPr wrap="none" lIns="91329" tIns="45661" rIns="91329" bIns="45661">
            <a:spAutoFit/>
          </a:bodyPr>
          <a:lstStyle/>
          <a:p>
            <a:r>
              <a:rPr lang="ru-RU" sz="4000" b="1" i="1" dirty="0">
                <a:solidFill>
                  <a:srgbClr val="0A0A0A"/>
                </a:solidFill>
                <a:effectLst/>
                <a:latin typeface="Google Sans"/>
              </a:rPr>
              <a:t>Фонд новых технологий в образовании «Байтик»</a:t>
            </a:r>
            <a:endParaRPr lang="ru-RU" sz="4000" b="1" i="1" dirty="0">
              <a:solidFill>
                <a:srgbClr val="0071CE"/>
              </a:solidFill>
              <a:latin typeface="IBM Plex Mono" panose="020B0509050203000203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B2EE58B7-D116-1B4C-8728-126099082006}"/>
              </a:ext>
            </a:extLst>
          </p:cNvPr>
          <p:cNvSpPr txBox="1"/>
          <p:nvPr/>
        </p:nvSpPr>
        <p:spPr>
          <a:xfrm>
            <a:off x="5936625" y="2678529"/>
            <a:ext cx="10515600" cy="620226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3900" b="1" dirty="0">
                <a:solidFill>
                  <a:srgbClr val="FF0000"/>
                </a:solidFill>
                <a:latin typeface="Montserrat SemiBold" pitchFamily="2" charset="77"/>
                <a:cs typeface="Times New Roman" panose="02020603050405020304" pitchFamily="18" charset="0"/>
              </a:rPr>
              <a:t>Приложения на </a:t>
            </a:r>
            <a:r>
              <a:rPr lang="en-US" sz="3900" b="1" dirty="0">
                <a:solidFill>
                  <a:srgbClr val="FF0000"/>
                </a:solidFill>
                <a:latin typeface="Montserrat SemiBold" pitchFamily="2" charset="77"/>
                <a:cs typeface="Times New Roman" panose="02020603050405020304" pitchFamily="18" charset="0"/>
              </a:rPr>
              <a:t>flask</a:t>
            </a:r>
            <a:r>
              <a:rPr lang="ru-RU" sz="3900" b="1" dirty="0">
                <a:solidFill>
                  <a:srgbClr val="FF0000"/>
                </a:solidFill>
                <a:latin typeface="Montserrat SemiBold" pitchFamily="2" charset="77"/>
                <a:cs typeface="Times New Roman" panose="02020603050405020304" pitchFamily="18" charset="0"/>
              </a:rPr>
              <a:t> Яндекс лицей</a:t>
            </a:r>
            <a:r>
              <a:rPr lang="en-US" sz="3900" b="1" dirty="0">
                <a:solidFill>
                  <a:srgbClr val="FF0000"/>
                </a:solidFill>
                <a:latin typeface="Montserrat SemiBold" pitchFamily="2" charset="77"/>
                <a:cs typeface="Times New Roman" panose="02020603050405020304" pitchFamily="18" charset="0"/>
              </a:rPr>
              <a:t> </a:t>
            </a:r>
            <a:endParaRPr lang="ru-RU" sz="3900" b="1" dirty="0">
              <a:solidFill>
                <a:srgbClr val="FF0000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6">
            <a:extLst>
              <a:ext uri="{FF2B5EF4-FFF2-40B4-BE49-F238E27FC236}">
                <a16:creationId xmlns:a16="http://schemas.microsoft.com/office/drawing/2014/main" id="{D125CC50-3C8B-49CB-98CD-752D0111ED89}"/>
              </a:ext>
            </a:extLst>
          </p:cNvPr>
          <p:cNvSpPr/>
          <p:nvPr/>
        </p:nvSpPr>
        <p:spPr>
          <a:xfrm>
            <a:off x="14319250" y="8169275"/>
            <a:ext cx="4997057" cy="461546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r>
              <a:rPr lang="ru-RU" sz="2400" b="1" dirty="0">
                <a:solidFill>
                  <a:srgbClr val="17B69C"/>
                </a:solidFill>
                <a:latin typeface="IBM Plex Mono" panose="020B0509050203000203"/>
              </a:rPr>
              <a:t>Презентацию подготовила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617AE52-3068-4693-AF02-A8FDDED54368}"/>
              </a:ext>
            </a:extLst>
          </p:cNvPr>
          <p:cNvSpPr/>
          <p:nvPr/>
        </p:nvSpPr>
        <p:spPr>
          <a:xfrm>
            <a:off x="13785850" y="9007475"/>
            <a:ext cx="5530457" cy="1938873"/>
          </a:xfrm>
          <a:prstGeom prst="rect">
            <a:avLst/>
          </a:prstGeom>
        </p:spPr>
        <p:txBody>
          <a:bodyPr wrap="none" lIns="91329" tIns="45661" rIns="91329" bIns="45661">
            <a:spAutoFit/>
          </a:bodyPr>
          <a:lstStyle/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Ученик группы № 1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:</a:t>
            </a:r>
            <a:endParaRPr lang="ru-RU" sz="2400" dirty="0">
              <a:solidFill>
                <a:schemeClr val="accent6">
                  <a:lumMod val="50000"/>
                </a:schemeClr>
              </a:solidFill>
              <a:latin typeface="IBM Plex Mono" panose="020B0509050203000203"/>
            </a:endParaRPr>
          </a:p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Пындык О. А.</a:t>
            </a:r>
          </a:p>
          <a:p>
            <a:endParaRPr lang="ru-RU" sz="2400" dirty="0">
              <a:solidFill>
                <a:schemeClr val="accent6">
                  <a:lumMod val="50000"/>
                </a:schemeClr>
              </a:solidFill>
              <a:latin typeface="IBM Plex Mono" panose="020B0509050203000203"/>
            </a:endParaRPr>
          </a:p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Руководитель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: </a:t>
            </a:r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Мединский В. В.</a:t>
            </a:r>
          </a:p>
          <a:p>
            <a:r>
              <a:rPr lang="ru-RU" sz="2400" dirty="0">
                <a:solidFill>
                  <a:schemeClr val="accent6">
                    <a:lumMod val="50000"/>
                  </a:schemeClr>
                </a:solidFill>
                <a:latin typeface="IBM Plex Mono" panose="020B0509050203000203"/>
              </a:rPr>
              <a:t>Преподаватель Фонда «Байтик»</a:t>
            </a:r>
            <a:endParaRPr lang="ru-RU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7170" name="Picture 2" descr="Париж 2024 | Пикабу">
            <a:extLst>
              <a:ext uri="{FF2B5EF4-FFF2-40B4-BE49-F238E27FC236}">
                <a16:creationId xmlns:a16="http://schemas.microsoft.com/office/drawing/2014/main" id="{9A754616-2E44-12D5-03DF-808358BE3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" y="8376702"/>
            <a:ext cx="4997057" cy="2929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00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7613650" y="455162"/>
            <a:ext cx="7848600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chemeClr val="accent5">
                    <a:lumMod val="50000"/>
                  </a:schemeClr>
                </a:solidFill>
                <a:latin typeface="Montserrat SemiBold" pitchFamily="2" charset="77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1118850" y="1609189"/>
            <a:ext cx="8762991" cy="8643273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IBM Plex Mono" panose="020B0509050203000203"/>
              </a:rPr>
              <a:t>Цели</a:t>
            </a:r>
            <a:r>
              <a:rPr lang="en-US" sz="2400" b="1" dirty="0">
                <a:latin typeface="IBM Plex Mono" panose="020B0509050203000203"/>
              </a:rPr>
              <a:t>:</a:t>
            </a:r>
            <a:endParaRPr lang="ru-RU" sz="2400" b="1" dirty="0">
              <a:latin typeface="IBM Plex Mono" panose="020B0509050203000203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Разработать веб-сервер с REST API, который позволяет вести дневник настроения, анализирует эмоциональные паттерны и автоматически отправляет поддерживающие сообщения в моменты, когда пользователь нуждается в заботе.</a:t>
            </a:r>
          </a:p>
          <a:p>
            <a:pPr indent="725488" algn="just">
              <a:lnSpc>
                <a:spcPct val="150000"/>
              </a:lnSpc>
            </a:pPr>
            <a:endParaRPr lang="en-US" sz="2400" dirty="0">
              <a:latin typeface="IBM Plex Mono" panose="020B0509050203000203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latin typeface="IBM Plex Mono" panose="020B0509050203000203"/>
              </a:rPr>
              <a:t>Задачи</a:t>
            </a:r>
            <a:r>
              <a:rPr lang="en-US" sz="2400" b="1" dirty="0">
                <a:latin typeface="IBM Plex Mono" panose="020B0509050203000203"/>
              </a:rPr>
              <a:t>:</a:t>
            </a:r>
            <a:endParaRPr lang="ru-RU" sz="2400" b="1" dirty="0">
              <a:latin typeface="IBM Plex Mono" panose="020B0509050203000203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Разработать веб-сервер на Flask с REST API для работы с записями настроения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Подключить базу данных SQLite для хранения истории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веб-интерфейс с графиком, разными темами и экспортом данных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Добавить Telegram-бота для автоматических уведомлений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Настроить фоновое напоминание (ежедневно в 20:00)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Выгрузить проект на GitHub и обеспечить возможность лёгкого запуска на другом компьютере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C7ABB37D-F776-4350-89C9-A2EF029A9BC6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AD67360E-EB6C-4906-AC73-CF444AFE0D2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2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46CBBB86-7E57-47DA-953D-FF1952EC9641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2050" name="Picture 2" descr="Мем Вы нам согласуете цели? лучше, мы их только покажем вам! №87376">
            <a:extLst>
              <a:ext uri="{FF2B5EF4-FFF2-40B4-BE49-F238E27FC236}">
                <a16:creationId xmlns:a16="http://schemas.microsoft.com/office/drawing/2014/main" id="{59114367-842A-3E3C-301C-396DF9344F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9" y="1609189"/>
            <a:ext cx="10675202" cy="900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7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8147050" y="534852"/>
            <a:ext cx="6096000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chemeClr val="accent5">
                    <a:lumMod val="50000"/>
                  </a:schemeClr>
                </a:solidFill>
                <a:latin typeface="Montserrat SemiBold" pitchFamily="2" charset="77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2109450" y="2149475"/>
            <a:ext cx="7924800" cy="6617077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algn="l"/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В современном мире люди часто испытывают стресс и забывают анализировать своё эмоциональное состояние. </a:t>
            </a:r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Personal</a:t>
            </a:r>
            <a:r>
              <a:rPr lang="ru-RU" sz="2400" dirty="0"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Mood </a:t>
            </a:r>
            <a:r>
              <a:rPr lang="en-US" sz="2400" dirty="0">
                <a:effectLst/>
                <a:latin typeface="Arial Black" panose="020B0A040201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Riser </a:t>
            </a: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помогает:</a:t>
            </a:r>
          </a:p>
          <a:p>
            <a:pPr algn="l"/>
            <a:endParaRPr lang="ru-RU" sz="32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Регулярно отслеживать настроение и замечать негативные тенденции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Получать поддержку в трудные моменты (автоматические утешительные сообщения)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Понимать, какие события или теги влияют на эмоции (через статистику и графики)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3200" b="0" i="0" dirty="0">
                <a:solidFill>
                  <a:srgbClr val="0F1115"/>
                </a:solidFill>
                <a:effectLst/>
                <a:latin typeface="quote-cjk-patch"/>
              </a:rPr>
              <a:t>Визуализировать динамику настроения — это помогает осознаннее относиться к себе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679DB89D-4410-4E83-95AE-33A3192BF4DA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0E351E19-117A-4A74-AF80-9989B1F7C44A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3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E1A4293F-7836-4555-83D2-9807288F84A7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3074" name="Picture 2" descr="Идеи на тему «Мем попугай» (47) | попугай, смешные мемы, веселые мемы">
            <a:extLst>
              <a:ext uri="{FF2B5EF4-FFF2-40B4-BE49-F238E27FC236}">
                <a16:creationId xmlns:a16="http://schemas.microsoft.com/office/drawing/2014/main" id="{950B76FD-0442-9C7B-B092-93AAC0FBE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50" y="1741623"/>
            <a:ext cx="10210800" cy="906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41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6242050" y="432302"/>
            <a:ext cx="7696200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chemeClr val="accent5">
                    <a:lumMod val="50000"/>
                  </a:schemeClr>
                </a:solidFill>
                <a:latin typeface="Montserrat SemiBold" pitchFamily="2" charset="77"/>
                <a:cs typeface="Times New Roman" panose="02020603050405020304" pitchFamily="18" charset="0"/>
              </a:rPr>
              <a:t>Возможности проекта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060450" y="1920875"/>
            <a:ext cx="18821392" cy="9571732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Запись настроения с оценкой, заметкой, тегами и фото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Просмотр  и изменение настроения за </a:t>
            </a:r>
            <a:r>
              <a:rPr lang="ru-RU" sz="2800" dirty="0">
                <a:solidFill>
                  <a:srgbClr val="0F1115"/>
                </a:solidFill>
                <a:latin typeface="quote-cjk-patch"/>
              </a:rPr>
              <a:t>любой день</a:t>
            </a:r>
            <a:endParaRPr lang="ru-RU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График динамики настроения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4 темы интерфейса на выбор (в том числе тёмная)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Telegram-уведомления при плохом настроении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Ежедневное напоминание в 20:00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/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l"/>
            <a:endParaRPr lang="ru-RU" sz="2400" dirty="0">
              <a:solidFill>
                <a:srgbClr val="0F1115"/>
              </a:solidFill>
              <a:latin typeface="quote-cjk-patch"/>
            </a:endParaRPr>
          </a:p>
          <a:p>
            <a:pPr algn="r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Регистрация и авторизация пользователей (личные дневники)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Календарь настроений с цветовой индикацией дней</a:t>
            </a:r>
          </a:p>
          <a:p>
            <a:pPr algn="r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Правила для поддержки и всплывающие уведомления в браузере</a:t>
            </a:r>
            <a:endParaRPr lang="en-US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r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rgbClr val="0F1115"/>
                </a:solidFill>
                <a:latin typeface="quote-cjk-patch"/>
              </a:rPr>
              <a:t>Анализ тегов, общей статистики и сравнение с предыдущим месяцем</a:t>
            </a:r>
            <a:endParaRPr lang="ru-RU" sz="2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r">
              <a:buFont typeface="Arial" panose="020B0604020202020204" pitchFamily="34" charset="0"/>
              <a:buChar char="•"/>
            </a:pPr>
            <a:endParaRPr lang="ru-RU" sz="2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3C77FCA4-AF52-48FB-ADF9-6C7B7BABFCDE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5CA815ED-4185-41E2-8886-39C3BDB1A3F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4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BA932A32-3B4D-4665-8B22-8CB4040FCF90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5122" name="Picture 2" descr="Мое настроение сегодня - Memchik.ru">
            <a:extLst>
              <a:ext uri="{FF2B5EF4-FFF2-40B4-BE49-F238E27FC236}">
                <a16:creationId xmlns:a16="http://schemas.microsoft.com/office/drawing/2014/main" id="{E99E9040-0DF0-9BDD-ADCC-321C84101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0" y="1463675"/>
            <a:ext cx="8077200" cy="7688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Испортили настроение">
            <a:extLst>
              <a:ext uri="{FF2B5EF4-FFF2-40B4-BE49-F238E27FC236}">
                <a16:creationId xmlns:a16="http://schemas.microsoft.com/office/drawing/2014/main" id="{719C829E-FF37-14B4-D2CA-877F592B37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50" y="4756474"/>
            <a:ext cx="6858000" cy="6088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525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7689850" y="174484"/>
            <a:ext cx="8305800" cy="758726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800" i="1" dirty="0">
                <a:solidFill>
                  <a:srgbClr val="0F1115"/>
                </a:solidFill>
                <a:effectLst/>
                <a:latin typeface="quote-cjk-patch"/>
                <a:ea typeface="Noto Kufi Arabic" panose="020B0504030804020204" pitchFamily="34" charset="-78"/>
                <a:cs typeface="Noto Kufi Arabic" panose="020B0504030804020204" pitchFamily="34" charset="-78"/>
              </a:rPr>
              <a:t>С чего всё начиналось:</a:t>
            </a:r>
            <a:endParaRPr lang="ru-RU" sz="4700" b="1" dirty="0">
              <a:solidFill>
                <a:srgbClr val="0F316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2025650" y="1182624"/>
            <a:ext cx="18053050" cy="2609954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indent="725488">
              <a:lnSpc>
                <a:spcPct val="150000"/>
              </a:lnSpc>
            </a:pP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Сначала </a:t>
            </a:r>
            <a:r>
              <a:rPr lang="ru-RU" sz="2800" dirty="0">
                <a:solidFill>
                  <a:srgbClr val="0F1115"/>
                </a:solidFill>
                <a:latin typeface="quote-cjk-patch"/>
              </a:rPr>
              <a:t>д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анные хранились просто в памяти сервера, поэтому после перезапуска всё терялось. Первый интерфейс был только в виде JSON-ответов. Тогда я подключила 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quote-cjk-patch"/>
              </a:rPr>
              <a:t>SQLite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, чтобы данные сохранялись навсегда. Добавила </a:t>
            </a:r>
            <a:r>
              <a:rPr lang="ru-RU" sz="2800" b="1" i="0" dirty="0">
                <a:solidFill>
                  <a:srgbClr val="0F1115"/>
                </a:solidFill>
                <a:effectLst/>
                <a:latin typeface="quote-cjk-patch"/>
              </a:rPr>
              <a:t>Telegram-бота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quote-cjk-patch"/>
              </a:rPr>
              <a:t> для реальных уведомлений и фоновый поток для напоминаний в 20:00. Весь интерфейс вынесла в отдельный HTML-файл с CSS и JavaScript, чтобы он был понятен пользователю.</a:t>
            </a:r>
            <a:endParaRPr lang="ru-RU" sz="2400" dirty="0">
              <a:solidFill>
                <a:srgbClr val="FF0000"/>
              </a:solidFill>
              <a:latin typeface="IBM Plex Mono" panose="020B0509050203000203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5B755245-146C-4C77-8188-61C98A8D7F26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35D84239-7F67-49A2-8D0F-AF5CA473F08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5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A780AAF1-9305-4A2A-A83F-34410663E880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6146" name="Picture 2" descr="Началось... - Memchik.ru">
            <a:extLst>
              <a:ext uri="{FF2B5EF4-FFF2-40B4-BE49-F238E27FC236}">
                <a16:creationId xmlns:a16="http://schemas.microsoft.com/office/drawing/2014/main" id="{7542AE1C-F83F-F19B-A613-C9FA0FD87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3820561"/>
            <a:ext cx="10058400" cy="7349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13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6775450" y="307721"/>
            <a:ext cx="6629400" cy="758726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800" i="1" dirty="0">
                <a:solidFill>
                  <a:srgbClr val="0F1115"/>
                </a:solidFill>
                <a:effectLst/>
                <a:latin typeface="quote-cjk-patch"/>
                <a:ea typeface="Noto Kufi Arabic" panose="020B0504030804020204" pitchFamily="34" charset="-78"/>
                <a:cs typeface="Noto Kufi Arabic" panose="020B0504030804020204" pitchFamily="34" charset="-78"/>
              </a:rPr>
              <a:t>Проблемы </a:t>
            </a:r>
            <a:r>
              <a:rPr lang="en-US" sz="4800" i="1" dirty="0">
                <a:solidFill>
                  <a:srgbClr val="0F1115"/>
                </a:solidFill>
                <a:effectLst/>
                <a:latin typeface="quote-cjk-patch"/>
                <a:ea typeface="Noto Kufi Arabic" panose="020B0504030804020204" pitchFamily="34" charset="-78"/>
                <a:cs typeface="Noto Kufi Arabic" panose="020B0504030804020204" pitchFamily="34" charset="-78"/>
              </a:rPr>
              <a:t>VS </a:t>
            </a:r>
            <a:r>
              <a:rPr lang="ru-RU" sz="4800" i="1" dirty="0">
                <a:solidFill>
                  <a:srgbClr val="0F1115"/>
                </a:solidFill>
                <a:effectLst/>
                <a:latin typeface="quote-cjk-patch"/>
                <a:ea typeface="Noto Kufi Arabic" panose="020B0504030804020204" pitchFamily="34" charset="-78"/>
                <a:cs typeface="Noto Kufi Arabic" panose="020B0504030804020204" pitchFamily="34" charset="-78"/>
              </a:rPr>
              <a:t>Решения</a:t>
            </a:r>
            <a:endParaRPr lang="ru-RU" sz="4700" b="1" dirty="0">
              <a:solidFill>
                <a:srgbClr val="0F316C"/>
              </a:solidFill>
              <a:latin typeface="Montserrat SemiBold" pitchFamily="2" charset="77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10350500" y="2149475"/>
            <a:ext cx="9753600" cy="6629581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Проблема: сервер перезагружался, а записи терялись → Решение: подключила SQLite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Проблема: неудобно тестировать API через консоль → Решение: сделала веб-интерфейс с кнопками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Проблема: Telegram-уведомления не приходили → Решение: добавила проверку токена и отладку в консоль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Проблема: путаница с ветками </a:t>
            </a:r>
            <a:r>
              <a:rPr lang="ru-RU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ru-RU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master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и </a:t>
            </a:r>
            <a:r>
              <a:rPr lang="ru-RU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→ Решение: переименовала ветки, синхронизировала их, оставила только </a:t>
            </a:r>
            <a:r>
              <a:rPr lang="ru-RU" sz="2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</a:t>
            </a:r>
            <a:endParaRPr lang="ru-RU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0B4DD5A9-F08B-4958-9BA4-848687AE7578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1CCF94E4-0E72-4BCE-B125-D11ECEB5A297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6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B0940162-C029-4FB8-89C0-20EE3AA6449D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1028" name="Picture 4" descr="Проблемы - 19.06.23 07:14 | Пикабу">
            <a:extLst>
              <a:ext uri="{FF2B5EF4-FFF2-40B4-BE49-F238E27FC236}">
                <a16:creationId xmlns:a16="http://schemas.microsoft.com/office/drawing/2014/main" id="{E9C974FF-36C7-E175-FBDC-562A9DADF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1" y="1539875"/>
            <a:ext cx="9102724" cy="919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6239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7004050" y="331842"/>
            <a:ext cx="6019800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chemeClr val="accent5">
                    <a:lumMod val="50000"/>
                  </a:schemeClr>
                </a:solidFill>
                <a:latin typeface="Montserrat SemiBold" pitchFamily="2" charset="77"/>
                <a:cs typeface="Times New Roman" panose="02020603050405020304" pitchFamily="18" charset="0"/>
              </a:rPr>
              <a:t>Результат работы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00F1063F-301E-46DE-9766-549B565EE75C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1099A52F-D26F-4E62-B90B-476DA3F6884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7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19891C55-31F6-446F-BCC0-AB0CEA5883A5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8" name="Рисунок 7" descr="Изображение выглядит как текст, снимок экрана, число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A7F7D1-FB03-A73E-D565-6C46B40CC3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1" y="1235075"/>
            <a:ext cx="9753599" cy="9982200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текст, снимок экрана, число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9223939-F4BA-E60A-E6A2-338D8910E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450" y="1235075"/>
            <a:ext cx="9753600" cy="990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99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7461250" y="180772"/>
            <a:ext cx="6553200" cy="743337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/>
            <a:r>
              <a:rPr lang="ru-RU" sz="4700" b="1" dirty="0">
                <a:solidFill>
                  <a:schemeClr val="accent5">
                    <a:lumMod val="50000"/>
                  </a:schemeClr>
                </a:solidFill>
                <a:latin typeface="Montserrat SemiBold" pitchFamily="2" charset="77"/>
                <a:cs typeface="Times New Roman" panose="02020603050405020304" pitchFamily="18" charset="0"/>
              </a:rPr>
              <a:t>Результат работы</a:t>
            </a: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3018B88E-6892-4787-8D88-7E5668D5D9C0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7B38499D-1810-4DAF-94D4-E3A3C55B920F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8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921054D6-0081-49EB-921F-9E07CC66B0FC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11" name="Рисунок 10" descr="Изображение выглядит как текст, снимок экрана, Шрифт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37FF75D0-8C0F-AD7C-DAA9-340C8A282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050" y="1208227"/>
            <a:ext cx="10287000" cy="985664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FB722DD-9162-9219-DB39-05B635809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0" y="1175639"/>
            <a:ext cx="9372600" cy="985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5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51E702C-48AD-4939-8EBB-F5754B52A1E5}"/>
              </a:ext>
            </a:extLst>
          </p:cNvPr>
          <p:cNvSpPr txBox="1"/>
          <p:nvPr/>
        </p:nvSpPr>
        <p:spPr>
          <a:xfrm>
            <a:off x="6623050" y="485380"/>
            <a:ext cx="8763000" cy="758726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algn="l"/>
            <a:r>
              <a:rPr lang="ru-RU" sz="4800" b="1" dirty="0">
                <a:solidFill>
                  <a:schemeClr val="accent5">
                    <a:lumMod val="50000"/>
                  </a:schemeClr>
                </a:solidFill>
                <a:effectLst/>
                <a:latin typeface="quote-cjk-patch"/>
              </a:rPr>
              <a:t>Дальнейшее развитие проекта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CB02A04-B7C2-4156-B164-E2BD228DD389}"/>
              </a:ext>
            </a:extLst>
          </p:cNvPr>
          <p:cNvSpPr/>
          <p:nvPr/>
        </p:nvSpPr>
        <p:spPr>
          <a:xfrm>
            <a:off x="2652088" y="1387475"/>
            <a:ext cx="16002000" cy="585810"/>
          </a:xfrm>
          <a:prstGeom prst="rect">
            <a:avLst/>
          </a:prstGeom>
        </p:spPr>
        <p:txBody>
          <a:bodyPr wrap="square" lIns="91329" tIns="45661" rIns="91329" bIns="45661">
            <a:spAutoFit/>
          </a:bodyPr>
          <a:lstStyle/>
          <a:p>
            <a:pPr indent="725488" algn="just">
              <a:lnSpc>
                <a:spcPct val="150000"/>
              </a:lnSpc>
            </a:pPr>
            <a:r>
              <a:rPr lang="ru-RU" sz="2400" dirty="0">
                <a:solidFill>
                  <a:srgbClr val="FF0000"/>
                </a:solidFill>
                <a:latin typeface="IBM Plex Mono" panose="020B0509050203000203"/>
              </a:rPr>
              <a:t>В дальнейшем было бы круто создать отдельное приложение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IBM Plex Mono" panose="020B0509050203000203" pitchFamily="49" charset="-52"/>
                <a:ea typeface="Aptos" panose="020B0004020202020204" pitchFamily="34" charset="0"/>
                <a:cs typeface="Times New Roman" panose="02020603050405020304" pitchFamily="18" charset="0"/>
              </a:rPr>
              <a:t>Personal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IBM Plex Mono" panose="020B0509050203000203" pitchFamily="49" charset="-52"/>
                <a:ea typeface="Aptos" panose="020B0004020202020204" pitchFamily="34" charset="0"/>
                <a:cs typeface="Times New Roman" panose="02020603050405020304" pitchFamily="18" charset="0"/>
              </a:rPr>
              <a:t> Mood 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IBM Plex Mono" panose="020B0509050203000203" pitchFamily="49" charset="-52"/>
                <a:ea typeface="Aptos" panose="020B0004020202020204" pitchFamily="34" charset="0"/>
                <a:cs typeface="Times New Roman" panose="02020603050405020304" pitchFamily="18" charset="0"/>
              </a:rPr>
              <a:t>Riser</a:t>
            </a:r>
            <a:r>
              <a:rPr lang="ru-RU" sz="2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IBM Plex Mono" panose="020B0509050203000203" pitchFamily="49" charset="-52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IBM Plex Mono" panose="020B0509050203000203" pitchFamily="49" charset="-52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ru-RU" sz="2400" dirty="0">
              <a:solidFill>
                <a:schemeClr val="accent1">
                  <a:lumMod val="60000"/>
                  <a:lumOff val="40000"/>
                </a:schemeClr>
              </a:solidFill>
              <a:latin typeface="IBM Plex Mono" panose="020B0509050203000203" pitchFamily="49" charset="-52"/>
            </a:endParaRPr>
          </a:p>
        </p:txBody>
      </p:sp>
      <p:sp>
        <p:nvSpPr>
          <p:cNvPr id="5" name="Google Shape;91;p32">
            <a:extLst>
              <a:ext uri="{FF2B5EF4-FFF2-40B4-BE49-F238E27FC236}">
                <a16:creationId xmlns:a16="http://schemas.microsoft.com/office/drawing/2014/main" id="{65A9FFA6-E418-4456-9836-6EF5BE43E3B2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92;p32">
            <a:extLst>
              <a:ext uri="{FF2B5EF4-FFF2-40B4-BE49-F238E27FC236}">
                <a16:creationId xmlns:a16="http://schemas.microsoft.com/office/drawing/2014/main" id="{4496E1BF-FDB5-4819-B22E-5E2AA745C59D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9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7" name="Google Shape;92;p32">
            <a:extLst>
              <a:ext uri="{FF2B5EF4-FFF2-40B4-BE49-F238E27FC236}">
                <a16:creationId xmlns:a16="http://schemas.microsoft.com/office/drawing/2014/main" id="{D33D491F-158A-4C71-8B36-0B3E94E759E1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4098" name="Picture 2" descr="Впрочем, это уже совсем другая история (мем с Леонидом Каневским)">
            <a:extLst>
              <a:ext uri="{FF2B5EF4-FFF2-40B4-BE49-F238E27FC236}">
                <a16:creationId xmlns:a16="http://schemas.microsoft.com/office/drawing/2014/main" id="{32989ECC-6A7C-DDE5-40FB-900D0206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050" y="2301875"/>
            <a:ext cx="12496800" cy="860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7084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19E5809D-DA8E-6142-B00E-E8405A99C639}"/>
              </a:ext>
            </a:extLst>
          </p:cNvPr>
          <p:cNvSpPr txBox="1"/>
          <p:nvPr/>
        </p:nvSpPr>
        <p:spPr>
          <a:xfrm>
            <a:off x="883912" y="291103"/>
            <a:ext cx="18789370" cy="958781"/>
          </a:xfrm>
          <a:prstGeom prst="rect">
            <a:avLst/>
          </a:prstGeom>
        </p:spPr>
        <p:txBody>
          <a:bodyPr vert="horz" wrap="square" lIns="0" tIns="19868" rIns="0" bIns="0" rtlCol="0">
            <a:spAutoFit/>
          </a:bodyPr>
          <a:lstStyle/>
          <a:p>
            <a:pPr marR="8365" algn="ctr"/>
            <a:r>
              <a:rPr lang="ru-RU" sz="6100" b="1" dirty="0">
                <a:solidFill>
                  <a:srgbClr val="00B050"/>
                </a:solidFill>
                <a:latin typeface="Mistral" panose="03090702030407020403" pitchFamily="66" charset="0"/>
                <a:cs typeface="Times New Roman" panose="02020603050405020304" pitchFamily="18" charset="0"/>
              </a:rPr>
              <a:t>СПАСИБО ЗА ВНИМАНИЕ!</a:t>
            </a:r>
            <a:r>
              <a:rPr lang="en-US" sz="6100" b="1" dirty="0">
                <a:solidFill>
                  <a:srgbClr val="00B050"/>
                </a:solidFill>
                <a:latin typeface="Mistral" panose="03090702030407020403" pitchFamily="66" charset="0"/>
                <a:cs typeface="Times New Roman" panose="02020603050405020304" pitchFamily="18" charset="0"/>
              </a:rPr>
              <a:t> </a:t>
            </a:r>
            <a:endParaRPr lang="ru-RU" sz="6100" b="1" dirty="0">
              <a:solidFill>
                <a:srgbClr val="00B050"/>
              </a:solidFill>
              <a:latin typeface="Mistral" panose="03090702030407020403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91;p32">
            <a:extLst>
              <a:ext uri="{FF2B5EF4-FFF2-40B4-BE49-F238E27FC236}">
                <a16:creationId xmlns:a16="http://schemas.microsoft.com/office/drawing/2014/main" id="{513C0B09-2EE8-427C-BD7E-44E2406065B4}"/>
              </a:ext>
            </a:extLst>
          </p:cNvPr>
          <p:cNvSpPr/>
          <p:nvPr/>
        </p:nvSpPr>
        <p:spPr>
          <a:xfrm>
            <a:off x="18624770" y="0"/>
            <a:ext cx="1048512" cy="1182624"/>
          </a:xfrm>
          <a:prstGeom prst="rect">
            <a:avLst/>
          </a:prstGeom>
          <a:solidFill>
            <a:srgbClr val="0F316C"/>
          </a:solidFill>
          <a:ln w="12700" cap="flat" cmpd="sng">
            <a:solidFill>
              <a:srgbClr val="C3A467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92;p32">
            <a:extLst>
              <a:ext uri="{FF2B5EF4-FFF2-40B4-BE49-F238E27FC236}">
                <a16:creationId xmlns:a16="http://schemas.microsoft.com/office/drawing/2014/main" id="{8842DB57-6BA8-4D16-B816-4AD9C82F1FD8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8795458" y="0"/>
            <a:ext cx="707136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ru-RU" sz="3600" b="1">
                <a:solidFill>
                  <a:schemeClr val="lt2"/>
                </a:solidFill>
              </a:rPr>
              <a:t>10</a:t>
            </a:fld>
            <a:endParaRPr sz="3600" b="1" dirty="0">
              <a:solidFill>
                <a:schemeClr val="lt2"/>
              </a:solidFill>
            </a:endParaRPr>
          </a:p>
        </p:txBody>
      </p:sp>
      <p:sp>
        <p:nvSpPr>
          <p:cNvPr id="5" name="Google Shape;92;p32">
            <a:extLst>
              <a:ext uri="{FF2B5EF4-FFF2-40B4-BE49-F238E27FC236}">
                <a16:creationId xmlns:a16="http://schemas.microsoft.com/office/drawing/2014/main" id="{60331194-1898-4946-8A1C-7C20B181B60D}"/>
              </a:ext>
            </a:extLst>
          </p:cNvPr>
          <p:cNvSpPr txBox="1">
            <a:spLocks/>
          </p:cNvSpPr>
          <p:nvPr/>
        </p:nvSpPr>
        <p:spPr>
          <a:xfrm>
            <a:off x="18624770" y="553847"/>
            <a:ext cx="1048512" cy="6217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ru-RU"/>
            </a:defPPr>
            <a:lvl1pPr marL="0" algn="r" defTabSz="913284" rtl="0" eaLnBrk="1" latinLnBrk="0" hangingPunct="1"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6641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3284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6992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657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3212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39853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6496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3137" algn="l" defTabSz="91328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SzPts val="3600"/>
            </a:pPr>
            <a:r>
              <a:rPr lang="ru-RU" sz="3600" b="1" dirty="0">
                <a:solidFill>
                  <a:schemeClr val="lt2"/>
                </a:solidFill>
              </a:rPr>
              <a:t>/ 12 </a:t>
            </a:r>
          </a:p>
        </p:txBody>
      </p:sp>
      <p:pic>
        <p:nvPicPr>
          <p:cNvPr id="8194" name="Picture 2" descr="Собаки-улыбаки» (20 фото). Жизнь любит тех, кто ей улыбается!">
            <a:extLst>
              <a:ext uri="{FF2B5EF4-FFF2-40B4-BE49-F238E27FC236}">
                <a16:creationId xmlns:a16="http://schemas.microsoft.com/office/drawing/2014/main" id="{95D17D75-3D3B-3FC3-333E-C038C12AF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650" y="1540987"/>
            <a:ext cx="10363200" cy="915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13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 dir="u"/>
      </p:transition>
    </mc:Choice>
    <mc:Fallback xmlns="">
      <p:transition>
        <p:push dir="u"/>
      </p:transition>
    </mc:Fallback>
  </mc:AlternateContent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1_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Тема2</Template>
  <TotalTime>11512</TotalTime>
  <Words>447</Words>
  <Application>Microsoft Office PowerPoint</Application>
  <PresentationFormat>Произвольный</PresentationFormat>
  <Paragraphs>83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13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25" baseType="lpstr">
      <vt:lpstr>Aptos</vt:lpstr>
      <vt:lpstr>Arial</vt:lpstr>
      <vt:lpstr>Arial Black</vt:lpstr>
      <vt:lpstr>Calibri</vt:lpstr>
      <vt:lpstr>Century Gothic</vt:lpstr>
      <vt:lpstr>Google Sans</vt:lpstr>
      <vt:lpstr>IBM Plex Mono</vt:lpstr>
      <vt:lpstr>IBM Plex Sans</vt:lpstr>
      <vt:lpstr>Mistral</vt:lpstr>
      <vt:lpstr>Montserrat SemiBold</vt:lpstr>
      <vt:lpstr>quote-cjk-patch</vt:lpstr>
      <vt:lpstr>Symbol</vt:lpstr>
      <vt:lpstr>Wingdings 3</vt:lpstr>
      <vt:lpstr>Легкий дым</vt:lpstr>
      <vt:lpstr>1_Легкий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новых и перспективных робототехнических решений на базе Университета Иннополис</dc:title>
  <dc:creator>Александр Климчик</dc:creator>
  <cp:lastModifiedBy>ASUS</cp:lastModifiedBy>
  <cp:revision>389</cp:revision>
  <dcterms:created xsi:type="dcterms:W3CDTF">2018-10-03T13:56:53Z</dcterms:created>
  <dcterms:modified xsi:type="dcterms:W3CDTF">2026-04-30T10:20:20Z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2018-10-03T00:00:00Z</vt:filetime>
  </property>
  <property fmtid="{D5CDD505-2E9C-101B-9397-08002B2CF9AE}" pid="3" name="Creator">
    <vt:lpwstr>Adobe Illustrator CC 22.1 (Windows)</vt:lpwstr>
  </property>
  <property fmtid="{D5CDD505-2E9C-101B-9397-08002B2CF9AE}" pid="4" name="LastSaved">
    <vt:filetime>2018-10-03T00:00:00Z</vt:filetime>
  </property>
</Properties>
</file>